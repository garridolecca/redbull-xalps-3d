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B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DB0A40"/>
                </a:solidFill>
                <a:latin typeface="Segoe UI"/>
              </a:defRPr>
            </a:pPr>
            <a:r>
              <a:t>RED BULL X-ALPS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3D Race Replay &amp; Thermal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BB"/>
                </a:solidFill>
                <a:latin typeface="Segoe UI"/>
              </a:defRPr>
            </a:pPr>
            <a:r>
              <a:t>Interactive Geospatial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79C1"/>
                </a:solidFill>
                <a:latin typeface="Segoe UI"/>
              </a:defRPr>
            </a:pPr>
            <a:r>
              <a:t>Powered by ArcGIS Maps SDK for JavaScript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Segoe UI"/>
              </a:defRPr>
            </a:pPr>
            <a:r>
              <a:t>Calcite Design System  |  3D SceneView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D700"/>
                </a:solidFill>
                <a:latin typeface="Segoe UI"/>
              </a:defRPr>
            </a:pPr>
            <a:r>
              <a:t>Data: Naviter GPS Telemetry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5394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AAAABB"/>
                </a:solidFill>
                <a:latin typeface="Segoe UI"/>
              </a:defRPr>
            </a:pPr>
            <a:r>
              <a:t>37.5M GPS fixes  |  35 Athletes  |  17 Days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B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B0A40"/>
                </a:solidFill>
                <a:latin typeface="Segoe UI"/>
              </a:defRPr>
            </a:pPr>
            <a:r>
              <a:t>THE 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What is Red Bull X-Alps?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AAAABB"/>
                </a:solidFill>
                <a:latin typeface="Segoe UI"/>
              </a:defRPr>
            </a:pPr>
            <a:r>
              <a:t>Adventure race across the European Alps</a:t>
            </a:r>
          </a:p>
          <a:p>
            <a:pPr>
              <a:spcAft>
                <a:spcPts val="800"/>
              </a:spcAft>
              <a:defRPr sz="1500">
                <a:solidFill>
                  <a:srgbClr val="AAAABB"/>
                </a:solidFill>
                <a:latin typeface="Segoe UI"/>
              </a:defRPr>
            </a:pPr>
            <a:r>
              <a:t>Athletes travel from Salzburg, Austria to Monaco</a:t>
            </a:r>
          </a:p>
          <a:p>
            <a:pPr>
              <a:spcAft>
                <a:spcPts val="800"/>
              </a:spcAft>
              <a:defRPr sz="1500">
                <a:solidFill>
                  <a:srgbClr val="AAAABB"/>
                </a:solidFill>
                <a:latin typeface="Segoe UI"/>
              </a:defRPr>
            </a:pPr>
            <a:r>
              <a:t>Only two modes: paragliding or hiking on foot</a:t>
            </a:r>
          </a:p>
          <a:p>
            <a:pPr>
              <a:spcAft>
                <a:spcPts val="800"/>
              </a:spcAft>
              <a:defRPr sz="1500">
                <a:solidFill>
                  <a:srgbClr val="AAAABB"/>
                </a:solidFill>
                <a:latin typeface="Segoe UI"/>
              </a:defRPr>
            </a:pPr>
            <a:r>
              <a:t>Athletes carry their own paraglider (~30 kg pack)</a:t>
            </a:r>
          </a:p>
          <a:p>
            <a:pPr>
              <a:spcAft>
                <a:spcPts val="800"/>
              </a:spcAft>
              <a:defRPr sz="1500">
                <a:solidFill>
                  <a:srgbClr val="AAAABB"/>
                </a:solidFill>
                <a:latin typeface="Segoe UI"/>
              </a:defRPr>
            </a:pPr>
            <a:r>
              <a:t>No motorized transport allowed</a:t>
            </a:r>
          </a:p>
          <a:p>
            <a:pPr>
              <a:spcAft>
                <a:spcPts val="800"/>
              </a:spcAft>
              <a:defRPr sz="1500">
                <a:solidFill>
                  <a:srgbClr val="AAAABB"/>
                </a:solidFill>
                <a:latin typeface="Segoe UI"/>
              </a:defRPr>
            </a:pPr>
            <a:r>
              <a:t>First to reach the finish line wins</a:t>
            </a:r>
          </a:p>
          <a:p>
            <a:pPr>
              <a:spcAft>
                <a:spcPts val="800"/>
              </a:spcAft>
              <a:defRPr sz="1500">
                <a:solidFill>
                  <a:srgbClr val="AAAABB"/>
                </a:solidFill>
                <a:latin typeface="Segoe UI"/>
              </a:defRPr>
            </a:pPr>
            <a:r>
              <a:t>Race spans approximately 12-14 days</a:t>
            </a:r>
          </a:p>
          <a:p>
            <a:pPr>
              <a:spcAft>
                <a:spcPts val="800"/>
              </a:spcAft>
              <a:defRPr sz="1500">
                <a:solidFill>
                  <a:srgbClr val="AAAABB"/>
                </a:solidFill>
                <a:latin typeface="Segoe UI"/>
              </a:defRPr>
            </a:pPr>
            <a:r>
              <a:t>Mandatory rest periods enforced at night</a:t>
            </a:r>
          </a:p>
          <a:p>
            <a:pPr>
              <a:spcAft>
                <a:spcPts val="800"/>
              </a:spcAft>
              <a:defRPr sz="1500">
                <a:solidFill>
                  <a:srgbClr val="AAAABB"/>
                </a:solidFill>
                <a:latin typeface="Segoe UI"/>
              </a:defRPr>
            </a:pPr>
            <a:r>
              <a:t>35 athletes from 20+ countries compete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Segoe UI"/>
              </a:defRPr>
            </a:pPr>
            <a:r>
              <a:t>Key Stats from 2025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2286000"/>
            <a:ext cx="4572000" cy="640080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23317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B0A40"/>
                </a:solidFill>
                <a:latin typeface="Segoe UI"/>
              </a:defRPr>
            </a:pPr>
            <a:r>
              <a:t>37.5M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3957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Segoe UI"/>
              </a:defRPr>
            </a:pPr>
            <a:r>
              <a:t>GPS Fixes Recorded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3063240"/>
            <a:ext cx="4572000" cy="640080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31089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B0A40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1729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Segoe UI"/>
              </a:defRPr>
            </a:pPr>
            <a:r>
              <a:t>Athletes Tracked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3840480"/>
            <a:ext cx="4572000" cy="640080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38862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B0A40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9502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Segoe UI"/>
              </a:defRPr>
            </a:pPr>
            <a:r>
              <a:t>Race Days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4617720"/>
            <a:ext cx="4572000" cy="640080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4663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B0A40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7274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Segoe UI"/>
              </a:defRPr>
            </a:pPr>
            <a:r>
              <a:t>Sensor Types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5394960"/>
            <a:ext cx="4572000" cy="640080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54406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B0A40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5046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Segoe UI"/>
              </a:defRPr>
            </a:pPr>
            <a:r>
              <a:t>Fields Per Fix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B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B0A40"/>
                </a:solidFill>
                <a:latin typeface="Segoe UI"/>
              </a:defRPr>
            </a:pPr>
            <a:r>
              <a:t>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From GPS Instruments to 3D Visualization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1645920" cy="1280160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645920" cy="54864"/>
          </a:xfrm>
          <a:prstGeom prst="rect">
            <a:avLst/>
          </a:prstGeom>
          <a:solidFill>
            <a:srgbClr val="DB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Naviter Omni</a:t>
            </a:r>
            <a:br/>
            <a:r>
              <a:t>GPS 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BB"/>
                </a:solidFill>
                <a:latin typeface="Segoe UI"/>
              </a:defRPr>
            </a:pPr>
            <a:r>
              <a:t>On each athlete</a:t>
            </a:r>
            <a:br/>
            <a:r>
              <a:t>18 fields/fix, 1Hz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AABB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2103120"/>
            <a:ext cx="1645920" cy="1280160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77440" y="2103120"/>
            <a:ext cx="16459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Google</a:t>
            </a:r>
            <a:br/>
            <a:r>
              <a:t>Pub/Sub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BB"/>
                </a:solidFill>
                <a:latin typeface="Segoe UI"/>
              </a:defRPr>
            </a:pPr>
            <a:r>
              <a:t>Real-time message</a:t>
            </a:r>
            <a:br/>
            <a:r>
              <a:t>ingestion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AABB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2103120"/>
            <a:ext cx="1645920" cy="1280160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2103120"/>
            <a:ext cx="1645920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2860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Google</a:t>
            </a:r>
            <a:br/>
            <a:r>
              <a:t>BigQuery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8346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BB"/>
                </a:solidFill>
                <a:latin typeface="Segoe UI"/>
              </a:defRPr>
            </a:pPr>
            <a:r>
              <a:t>Raw storage</a:t>
            </a:r>
            <a:br/>
            <a:r>
              <a:t>14 daily CSV exports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AABB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103120"/>
            <a:ext cx="1645920" cy="1280160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103120"/>
            <a:ext cx="164592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2860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Python</a:t>
            </a:r>
            <a:br/>
            <a:r>
              <a:t>ETL Script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8346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BB"/>
                </a:solidFill>
                <a:latin typeface="Segoe UI"/>
              </a:defRPr>
            </a:pPr>
            <a:r>
              <a:t>Parse, deduplicate</a:t>
            </a:r>
            <a:br/>
            <a:r>
              <a:t>90s time buckets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AABB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2103120"/>
            <a:ext cx="1645920" cy="1280160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2103120"/>
            <a:ext cx="1645920" cy="54864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22860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JSON</a:t>
            </a:r>
            <a:br/>
            <a:r>
              <a:t>17 MB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8346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BB"/>
                </a:solidFill>
                <a:latin typeface="Segoe UI"/>
              </a:defRPr>
            </a:pPr>
            <a:r>
              <a:t>294K tracks</a:t>
            </a:r>
            <a:br/>
            <a:r>
              <a:t>59K climb events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AABB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0" y="2103120"/>
            <a:ext cx="1645920" cy="1280160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58400" y="2103120"/>
            <a:ext cx="1645920" cy="54864"/>
          </a:xfrm>
          <a:prstGeom prst="rect">
            <a:avLst/>
          </a:prstGeom>
          <a:solidFill>
            <a:srgbClr val="007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49840" y="22860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ArcGIS</a:t>
            </a:r>
            <a:br/>
            <a:r>
              <a:t>SceneView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28346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BB"/>
                </a:solidFill>
                <a:latin typeface="Segoe UI"/>
              </a:defRPr>
            </a:pPr>
            <a:r>
              <a:t>3D terrain</a:t>
            </a:r>
            <a:br/>
            <a:r>
              <a:t>Calcite Design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Processing Details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3891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Sensor priority: Naviter &gt; Satellite &gt; Flarm &gt; OGN</a:t>
            </a:r>
          </a:p>
          <a:p>
            <a:pPr>
              <a:spcAft>
                <a:spcPts val="8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Time-bucket deduplication: 90-second intervals</a:t>
            </a:r>
          </a:p>
          <a:p>
            <a:pPr>
              <a:spcAft>
                <a:spcPts val="8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Coordinate precision: 4 decimal places (~11m)</a:t>
            </a:r>
          </a:p>
          <a:p>
            <a:pPr>
              <a:spcAft>
                <a:spcPts val="8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Altitude rounded to integers</a:t>
            </a:r>
          </a:p>
          <a:p>
            <a:pPr>
              <a:spcAft>
                <a:spcPts val="8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Timestamps filtered to race window only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3891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Input: 14 CSV files, 1.16M rows, 37.5M data points</a:t>
            </a:r>
          </a:p>
          <a:p>
            <a:pPr>
              <a:spcAft>
                <a:spcPts val="8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Output: 294K tracks + 59K climb + 62K wind</a:t>
            </a:r>
          </a:p>
          <a:p>
            <a:pPr>
              <a:spcAft>
                <a:spcPts val="8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File size reduced: 25 MB &gt; 17 MB</a:t>
            </a:r>
          </a:p>
          <a:p>
            <a:pPr>
              <a:spcAft>
                <a:spcPts val="8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Streaming download with progress indicator</a:t>
            </a:r>
          </a:p>
          <a:p>
            <a:pPr>
              <a:spcAft>
                <a:spcPts val="8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JSON parsed client-side in browser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B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B0A40"/>
                </a:solidFill>
                <a:latin typeface="Segoe UI"/>
              </a:defRPr>
            </a:pPr>
            <a:r>
              <a:t>RAW DATA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18 Fields Per GPS Fix (from Naviter Omni Data Dictionary)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GPS Timestamp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39" y="1645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8B0C7"/>
                </a:solidFill>
                <a:latin typeface="Segoe UI"/>
              </a:defRPr>
            </a:pPr>
            <a:r>
              <a:t>Unix UTC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645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Segoe UI"/>
              </a:defRPr>
            </a:pPr>
            <a:r>
              <a:t>Position in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Latitude / Longitude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39" y="1965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8B0C7"/>
                </a:solidFill>
                <a:latin typeface="Segoe UI"/>
              </a:defRPr>
            </a:pPr>
            <a:r>
              <a:t>WGS 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965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Segoe UI"/>
              </a:defRPr>
            </a:pPr>
            <a:r>
              <a:t>Position on Earth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GPS Altitude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39" y="2286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8B0C7"/>
                </a:solidFill>
                <a:latin typeface="Segoe UI"/>
              </a:defRPr>
            </a:pPr>
            <a:r>
              <a:t>Meters (ellipsoid)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286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Segoe UI"/>
              </a:defRPr>
            </a:pPr>
            <a:r>
              <a:t>Height from GPS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Baro Altitude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39" y="260603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8B0C7"/>
                </a:solidFill>
                <a:latin typeface="Segoe UI"/>
              </a:defRPr>
            </a:pPr>
            <a:r>
              <a:t>Meters (QNE)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26060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Segoe UI"/>
              </a:defRPr>
            </a:pPr>
            <a:r>
              <a:t>Height from barometer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926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Altitude Above Ground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39" y="2926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8B0C7"/>
                </a:solidFill>
                <a:latin typeface="Segoe UI"/>
              </a:defRPr>
            </a:pPr>
            <a:r>
              <a:t>Meters (SRTM)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2926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Segoe UI"/>
              </a:defRPr>
            </a:pPr>
            <a:r>
              <a:t>Height above terrain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2461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Speed / Groundspeed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39" y="3246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8B0C7"/>
                </a:solidFill>
                <a:latin typeface="Segoe UI"/>
              </a:defRPr>
            </a:pPr>
            <a:r>
              <a:t>km/h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32461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Segoe UI"/>
              </a:defRPr>
            </a:pPr>
            <a:r>
              <a:t>Movement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56615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Heading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39" y="356615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8B0C7"/>
                </a:solidFill>
                <a:latin typeface="Segoe UI"/>
              </a:defRPr>
            </a:pPr>
            <a:r>
              <a:t>Degrees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356615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Segoe UI"/>
              </a:defRPr>
            </a:pPr>
            <a:r>
              <a:t>Direction of travel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886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Vertical Speed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39" y="3886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8B0C7"/>
                </a:solidFill>
                <a:latin typeface="Segoe UI"/>
              </a:defRPr>
            </a:pPr>
            <a:r>
              <a:t>m/s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3886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Segoe UI"/>
              </a:defRPr>
            </a:pPr>
            <a:r>
              <a:t>Rate of climb or descent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645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Windspeed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1645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8B0C7"/>
                </a:solidFill>
                <a:latin typeface="Segoe UI"/>
              </a:defRPr>
            </a:pPr>
            <a:r>
              <a:t>km/h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1645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Segoe UI"/>
              </a:defRPr>
            </a:pPr>
            <a:r>
              <a:t>Measured by instrument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1965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Wind Direction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1965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8B0C7"/>
                </a:solidFill>
                <a:latin typeface="Segoe UI"/>
              </a:defRPr>
            </a:pPr>
            <a:r>
              <a:t>Degrees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1965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Segoe UI"/>
              </a:defRPr>
            </a:pPr>
            <a:r>
              <a:t>Where wind comes from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286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UserActivity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2286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8B0C7"/>
                </a:solidFill>
                <a:latin typeface="Segoe UI"/>
              </a:defRPr>
            </a:pPr>
            <a:r>
              <a:t>S / F / 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2286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Segoe UI"/>
              </a:defRPr>
            </a:pPr>
            <a:r>
              <a:t>Stationary / Flying / Hiking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26060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Airspace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260603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8B0C7"/>
                </a:solidFill>
                <a:latin typeface="Segoe UI"/>
              </a:defRPr>
            </a:pPr>
            <a:r>
              <a:t>String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26060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Segoe UI"/>
              </a:defRPr>
            </a:pPr>
            <a:r>
              <a:t>Airspace zone identifier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2926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Rest Status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2926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8B0C7"/>
                </a:solidFill>
                <a:latin typeface="Segoe UI"/>
              </a:defRPr>
            </a:pPr>
            <a:r>
              <a:t>0 / 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2926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Segoe UI"/>
              </a:defRPr>
            </a:pPr>
            <a:r>
              <a:t>Mandatory rest active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32461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Nightpass Status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3246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8B0C7"/>
                </a:solidFill>
                <a:latin typeface="Segoe UI"/>
              </a:defRPr>
            </a:pPr>
            <a:r>
              <a:t>0 / 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32461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Segoe UI"/>
              </a:defRPr>
            </a:pPr>
            <a:r>
              <a:t>Night movement allowed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356615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GPS Quality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356615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8B0C7"/>
                </a:solidFill>
                <a:latin typeface="Segoe UI"/>
              </a:defRPr>
            </a:pPr>
            <a:r>
              <a:t>0-50 SNR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356615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Segoe UI"/>
              </a:defRPr>
            </a:pPr>
            <a:r>
              <a:t>Signal quality indicator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B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B0A40"/>
                </a:solidFill>
                <a:latin typeface="Segoe UI"/>
              </a:defRPr>
            </a:pPr>
            <a:r>
              <a:t>ANALYSIS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How Indicators Are Derived from Raw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5303520" cy="2194560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Segoe UI"/>
              </a:defRPr>
            </a:pPr>
            <a:r>
              <a:t>Climb Events (labeled "Thermals")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AAAABB"/>
                </a:solidFill>
                <a:latin typeface="Segoe UI"/>
              </a:defRPr>
            </a:pPr>
            <a:r>
              <a:t>Filter: Vertical Speed &gt; 1.0 m/s</a:t>
            </a:r>
          </a:p>
          <a:p>
            <a:pPr>
              <a:spcAft>
                <a:spcPts val="800"/>
              </a:spcAft>
              <a:defRPr sz="1200">
                <a:solidFill>
                  <a:srgbClr val="AAAABB"/>
                </a:solidFill>
                <a:latin typeface="Segoe UI"/>
              </a:defRPr>
            </a:pPr>
            <a:r>
              <a:t>Source: Naviter sensor only (type = 'N')</a:t>
            </a:r>
          </a:p>
          <a:p>
            <a:pPr>
              <a:spcAft>
                <a:spcPts val="800"/>
              </a:spcAft>
              <a:defRPr sz="1200">
                <a:solidFill>
                  <a:srgbClr val="AAAABB"/>
                </a:solidFill>
                <a:latin typeface="Segoe UI"/>
              </a:defRPr>
            </a:pPr>
            <a:r>
              <a:t>Sampling: 90-second time buckets per athlete</a:t>
            </a:r>
          </a:p>
          <a:p>
            <a:pPr>
              <a:spcAft>
                <a:spcPts val="800"/>
              </a:spcAft>
              <a:defRPr sz="1200">
                <a:solidFill>
                  <a:srgbClr val="AAAABB"/>
                </a:solidFill>
                <a:latin typeface="Segoe UI"/>
              </a:defRPr>
            </a:pPr>
            <a:r>
              <a:t>No clustering into distinct thermal events</a:t>
            </a:r>
          </a:p>
          <a:p>
            <a:pPr>
              <a:spcAft>
                <a:spcPts val="800"/>
              </a:spcAft>
              <a:defRPr sz="1200">
                <a:solidFill>
                  <a:srgbClr val="AAAABB"/>
                </a:solidFill>
                <a:latin typeface="Segoe UI"/>
              </a:defRPr>
            </a:pPr>
            <a:r>
              <a:t>UserActivity field NOT checked (may include hiking)</a:t>
            </a:r>
          </a:p>
          <a:p>
            <a:pPr>
              <a:spcAft>
                <a:spcPts val="800"/>
              </a:spcAft>
              <a:defRPr sz="1200">
                <a:solidFill>
                  <a:srgbClr val="AAAABB"/>
                </a:solidFill>
                <a:latin typeface="Segoe UI"/>
              </a:defRPr>
            </a:pPr>
            <a:r>
              <a:t>Threshold of 1.0 m/s is arbitrary, not a standard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303520" cy="2194560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8B0C7"/>
                </a:solidFill>
                <a:latin typeface="Segoe UI"/>
              </a:defRPr>
            </a:pPr>
            <a:r>
              <a:t>Wind Rose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AAAABB"/>
                </a:solidFill>
                <a:latin typeface="Segoe UI"/>
              </a:defRPr>
            </a:pPr>
            <a:r>
              <a:t>Source: Windspeed + Wind Direction from Naviter Omni</a:t>
            </a:r>
          </a:p>
          <a:p>
            <a:pPr>
              <a:spcAft>
                <a:spcPts val="800"/>
              </a:spcAft>
              <a:defRPr sz="1200">
                <a:solidFill>
                  <a:srgbClr val="AAAABB"/>
                </a:solidFill>
                <a:latin typeface="Segoe UI"/>
              </a:defRPr>
            </a:pPr>
            <a:r>
              <a:t>These are onboard instrument readings, not weather data</a:t>
            </a:r>
          </a:p>
          <a:p>
            <a:pPr>
              <a:spcAft>
                <a:spcPts val="800"/>
              </a:spcAft>
              <a:defRPr sz="1200">
                <a:solidFill>
                  <a:srgbClr val="AAAABB"/>
                </a:solidFill>
                <a:latin typeface="Segoe UI"/>
              </a:defRPr>
            </a:pPr>
            <a:r>
              <a:t>Sampling: 5-minute intervals per athlete</a:t>
            </a:r>
          </a:p>
          <a:p>
            <a:pPr>
              <a:spcAft>
                <a:spcPts val="800"/>
              </a:spcAft>
              <a:defRPr sz="1200">
                <a:solidFill>
                  <a:srgbClr val="AAAABB"/>
                </a:solidFill>
                <a:latin typeface="Segoe UI"/>
              </a:defRPr>
            </a:pPr>
            <a:r>
              <a:t>16 directional bins, 4 speed bins (0-5, 5-15, 15-25, 25+)</a:t>
            </a:r>
          </a:p>
          <a:p>
            <a:pPr>
              <a:spcAft>
                <a:spcPts val="800"/>
              </a:spcAft>
              <a:defRPr sz="1200">
                <a:solidFill>
                  <a:srgbClr val="AAAABB"/>
                </a:solidFill>
                <a:latin typeface="Segoe UI"/>
              </a:defRPr>
            </a:pPr>
            <a:r>
              <a:t>Time window: +/- 1.5 hours of current playback time</a:t>
            </a:r>
          </a:p>
          <a:p>
            <a:pPr>
              <a:spcAft>
                <a:spcPts val="800"/>
              </a:spcAft>
              <a:defRPr sz="1200">
                <a:solidFill>
                  <a:srgbClr val="AAAABB"/>
                </a:solidFill>
                <a:latin typeface="Segoe UI"/>
              </a:defRPr>
            </a:pPr>
            <a:r>
              <a:t>Stats: average speed, max speed, dominant direction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06240"/>
            <a:ext cx="5303520" cy="1645920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C759"/>
                </a:solidFill>
                <a:latin typeface="Segoe UI"/>
              </a:defRPr>
            </a:pPr>
            <a:r>
              <a:t>Altitude 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AAAABB"/>
                </a:solidFill>
                <a:latin typeface="Segoe UI"/>
              </a:defRPr>
            </a:pPr>
            <a:r>
              <a:t>Plots raw GPS Altitude (ellipsoid height, meters)</a:t>
            </a:r>
          </a:p>
          <a:p>
            <a:pPr>
              <a:spcAft>
                <a:spcPts val="800"/>
              </a:spcAft>
              <a:defRPr sz="1200">
                <a:solidFill>
                  <a:srgbClr val="AAAABB"/>
                </a:solidFill>
                <a:latin typeface="Segoe UI"/>
              </a:defRPr>
            </a:pPr>
            <a:r>
              <a:t>Full track timeline for solo'd athlete</a:t>
            </a:r>
          </a:p>
          <a:p>
            <a:pPr>
              <a:spcAft>
                <a:spcPts val="800"/>
              </a:spcAft>
              <a:defRPr sz="1200">
                <a:solidFill>
                  <a:srgbClr val="AAAABB"/>
                </a:solidFill>
                <a:latin typeface="Segoe UI"/>
              </a:defRPr>
            </a:pPr>
            <a:r>
              <a:t>Red marker shows current playback position</a:t>
            </a:r>
          </a:p>
          <a:p>
            <a:pPr>
              <a:spcAft>
                <a:spcPts val="800"/>
              </a:spcAft>
              <a:defRPr sz="1200">
                <a:solidFill>
                  <a:srgbClr val="AAAABB"/>
                </a:solidFill>
                <a:latin typeface="Segoe UI"/>
              </a:defRPr>
            </a:pPr>
            <a:r>
              <a:t>Canvas-drawn sparkline, updates during playback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206240"/>
            <a:ext cx="5303520" cy="1645920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B0A40"/>
                </a:solidFill>
                <a:latin typeface="Segoe UI"/>
              </a:defRPr>
            </a:pPr>
            <a:r>
              <a:t>Important Caveats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7548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AAAABB"/>
                </a:solidFill>
                <a:latin typeface="Segoe UI"/>
              </a:defRPr>
            </a:pPr>
            <a:r>
              <a:t>"Thermals" = inferred from vertical speed, not measured</a:t>
            </a:r>
          </a:p>
          <a:p>
            <a:pPr>
              <a:spcAft>
                <a:spcPts val="800"/>
              </a:spcAft>
              <a:defRPr sz="1200">
                <a:solidFill>
                  <a:srgbClr val="AAAABB"/>
                </a:solidFill>
                <a:latin typeface="Segoe UI"/>
              </a:defRPr>
            </a:pPr>
            <a:r>
              <a:t>Positive VS could be ridge lift, wave, or GPS noise</a:t>
            </a:r>
          </a:p>
          <a:p>
            <a:pPr>
              <a:spcAft>
                <a:spcPts val="800"/>
              </a:spcAft>
              <a:defRPr sz="1200">
                <a:solidFill>
                  <a:srgbClr val="AAAABB"/>
                </a:solidFill>
                <a:latin typeface="Segoe UI"/>
              </a:defRPr>
            </a:pPr>
            <a:r>
              <a:t>Wind data only from Naviter, not all sensors</a:t>
            </a:r>
          </a:p>
          <a:p>
            <a:pPr>
              <a:spcAft>
                <a:spcPts val="800"/>
              </a:spcAft>
              <a:defRPr sz="1200">
                <a:solidFill>
                  <a:srgbClr val="AAAABB"/>
                </a:solidFill>
                <a:latin typeface="Segoe UI"/>
              </a:defRPr>
            </a:pPr>
            <a:r>
              <a:t>Athlete names approximate (bib mapping may vary)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B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B0A40"/>
                </a:solidFill>
                <a:latin typeface="Segoe UI"/>
              </a:defRPr>
            </a:pPr>
            <a:r>
              <a:t>VISUALIZATION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303520" cy="1097280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4864" cy="1097280"/>
          </a:xfrm>
          <a:prstGeom prst="rect">
            <a:avLst/>
          </a:prstGeom>
          <a:solidFill>
            <a:srgbClr val="DB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3D Race Replay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Segoe UI"/>
              </a:defRPr>
            </a:pPr>
            <a:r>
              <a:t>Animated athlete markers moving along GPS tracks over Alpine terrain with real-time interpolation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303520" cy="1097280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4864" cy="10972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Numbered Markers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Segoe UI"/>
              </a:defRPr>
            </a:pPr>
            <a:r>
              <a:t>Each athlete shows their bib number in a colored circle with callout line to terrain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06039"/>
            <a:ext cx="5303520" cy="1097280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606039"/>
            <a:ext cx="54864" cy="10972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9747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Track 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0895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Segoe UI"/>
              </a:defRPr>
            </a:pPr>
            <a:r>
              <a:t>Dual-layer glow effect: translucent outer + bright inner core at actual GPS altitude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606039"/>
            <a:ext cx="5303520" cy="1097280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606039"/>
            <a:ext cx="54864" cy="1097280"/>
          </a:xfrm>
          <a:prstGeom prst="rect">
            <a:avLst/>
          </a:prstGeom>
          <a:solidFill>
            <a:srgbClr val="48B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69747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Wind Rose Chart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0895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Segoe UI"/>
              </a:defRPr>
            </a:pPr>
            <a:r>
              <a:t>Canvas-drawn polar diagram with 16 directions, 4 speed bins, live stats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931920"/>
            <a:ext cx="5303520" cy="1097280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931920"/>
            <a:ext cx="54864" cy="109728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02335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Thermal Statistics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4348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Segoe UI"/>
              </a:defRPr>
            </a:pPr>
            <a:r>
              <a:t>Active count, average and max climb rate, updating every 500ms during playback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931920"/>
            <a:ext cx="5303520" cy="1097280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931920"/>
            <a:ext cx="54864" cy="109728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02335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Altitude Profile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4348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Segoe UI"/>
              </a:defRPr>
            </a:pPr>
            <a:r>
              <a:t>Sparkline elevation chart for solo'd athlete with moving time marker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257800"/>
            <a:ext cx="5303520" cy="1097280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257800"/>
            <a:ext cx="54864" cy="1097280"/>
          </a:xfrm>
          <a:prstGeom prst="rect">
            <a:avLst/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349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Solo Mode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7607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Segoe UI"/>
              </a:defRPr>
            </a:pPr>
            <a:r>
              <a:t>Filter all data to a single athlete: tracks, climb events, wind, altitude profile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5257800"/>
            <a:ext cx="5303520" cy="1097280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5257800"/>
            <a:ext cx="54864" cy="10972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5349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Dynamic Lighting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7607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Segoe UI"/>
              </a:defRPr>
            </a:pPr>
            <a:r>
              <a:t>Sun position updates with playback time for realistic day/night transitions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B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B0A40"/>
                </a:solidFill>
                <a:latin typeface="Segoe UI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9C1"/>
                </a:solidFill>
                <a:latin typeface="Segoe UI"/>
              </a:defRPr>
            </a:pPr>
            <a:r>
              <a:t>Frontend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ArcGIS Maps SDK for JavaScript 4.31</a:t>
            </a:r>
          </a:p>
          <a:p>
            <a:pPr>
              <a:spcAft>
                <a:spcPts val="8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Calcite Design System 2.13.2 (dark mode)</a:t>
            </a:r>
          </a:p>
          <a:p>
            <a:pPr>
              <a:spcAft>
                <a:spcPts val="8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SceneView with world elevation service</a:t>
            </a:r>
          </a:p>
          <a:p>
            <a:pPr>
              <a:spcAft>
                <a:spcPts val="8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GraphicsLayer with absolute-height elevation</a:t>
            </a:r>
          </a:p>
          <a:p>
            <a:pPr>
              <a:spcAft>
                <a:spcPts val="8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LineSymbol3D with dual-layer glow effect</a:t>
            </a:r>
          </a:p>
          <a:p>
            <a:pPr>
              <a:spcAft>
                <a:spcPts val="8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IconSymbol3DLayer with inline SVG markers</a:t>
            </a:r>
          </a:p>
          <a:p>
            <a:pPr>
              <a:spcAft>
                <a:spcPts val="8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PointSymbol3D with callout lines</a:t>
            </a:r>
          </a:p>
          <a:p>
            <a:pPr>
              <a:spcAft>
                <a:spcPts val="8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HTML5 Canvas for wind rose + altitude charts</a:t>
            </a:r>
          </a:p>
          <a:p>
            <a:pPr>
              <a:spcAft>
                <a:spcPts val="8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Streaming fetch with download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Segoe UI"/>
              </a:defRPr>
            </a:pPr>
            <a:r>
              <a:t>Performance Optimizations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Binary search for time-windowed data queries</a:t>
            </a:r>
          </a:p>
          <a:p>
            <a:pPr>
              <a:spcAft>
                <a:spcPts val="8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Throttled analysis updates (every 500ms)</a:t>
            </a:r>
          </a:p>
          <a:p>
            <a:pPr>
              <a:spcAft>
                <a:spcPts val="8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requestIdleCallback for non-critical DOM updates</a:t>
            </a:r>
          </a:p>
          <a:p>
            <a:pPr>
              <a:spcAft>
                <a:spcPts val="8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No map graphics for thermals/wind (charts only)</a:t>
            </a:r>
          </a:p>
          <a:p>
            <a:pPr>
              <a:spcAft>
                <a:spcPts val="8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Animation: only positions + time display per frame</a:t>
            </a:r>
          </a:p>
          <a:p>
            <a:pPr>
              <a:spcAft>
                <a:spcPts val="8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90-second time buckets reduce data 3x</a:t>
            </a:r>
          </a:p>
          <a:p>
            <a:pPr>
              <a:spcAft>
                <a:spcPts val="8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4 decimal coordinate precision saves ~30% JSON size</a:t>
            </a:r>
          </a:p>
          <a:p>
            <a:pPr>
              <a:spcAft>
                <a:spcPts val="8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Auto-skip empty time gaps during playback</a:t>
            </a:r>
          </a:p>
          <a:p>
            <a:pPr>
              <a:spcAft>
                <a:spcPts val="8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Shadows + ambient occlusion disabled for GPU perf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C759"/>
                </a:solidFill>
                <a:latin typeface="Segoe UI"/>
              </a:defRPr>
            </a:pPr>
            <a:r>
              <a:t>Data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Python script: csv, json, defaultdict</a:t>
            </a:r>
          </a:p>
          <a:p>
            <a:pPr>
              <a:spcAft>
                <a:spcPts val="8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Sensor priority deduplication (N &gt; S &gt; F &gt; O)</a:t>
            </a:r>
          </a:p>
          <a:p>
            <a:pPr>
              <a:spcAft>
                <a:spcPts val="8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Streaming CSV reader with 10MB field limit</a:t>
            </a:r>
          </a:p>
          <a:p>
            <a:pPr>
              <a:spcAft>
                <a:spcPts val="8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Output: single JSON file served via GitHub 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B0A40"/>
                </a:solidFill>
                <a:latin typeface="Segoe UI"/>
              </a:defRPr>
            </a:pPr>
            <a:r>
              <a:t>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2120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Single HTML file + JSON data file</a:t>
            </a:r>
          </a:p>
          <a:p>
            <a:pPr>
              <a:spcAft>
                <a:spcPts val="8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Hosted on GitHub Pages (auto-deploy on push)</a:t>
            </a:r>
          </a:p>
          <a:p>
            <a:pPr>
              <a:spcAft>
                <a:spcPts val="8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No server required - fully client-side</a:t>
            </a:r>
          </a:p>
          <a:p>
            <a:pPr>
              <a:spcAft>
                <a:spcPts val="8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Login gate + intro guide for onboarding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B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AAABB"/>
                </a:solidFill>
                <a:latin typeface="Segoe UI"/>
              </a:defRPr>
            </a:pPr>
            <a:r>
              <a:t>Red Bull X-Alps 2025 | 3D Race Replay &amp; Thermal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79C1"/>
                </a:solidFill>
                <a:latin typeface="Segoe UI"/>
              </a:defRPr>
            </a:pPr>
            <a:r>
              <a:t>github.com/garridolecca/redbull-xalps-3d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B0A40"/>
                </a:solidFill>
                <a:latin typeface="Segoe UI"/>
              </a:defRPr>
            </a:pPr>
            <a:r>
              <a:t>garridolecca.github.io/redbull-xalps-3d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79C1"/>
                </a:solidFill>
                <a:latin typeface="Segoe UI"/>
              </a:defRPr>
            </a:pPr>
            <a:r>
              <a:t>Powered by Esri ArcGIS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D700"/>
                </a:solidFill>
                <a:latin typeface="Segoe UI"/>
              </a:defRPr>
            </a:pPr>
            <a:r>
              <a:t>Data by Red Bull X-Alps / Naviter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